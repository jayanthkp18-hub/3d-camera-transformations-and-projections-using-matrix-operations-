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3" r:id="rId9"/>
    <p:sldId id="264" r:id="rId10"/>
    <p:sldId id="265" r:id="rId11"/>
    <p:sldId id="268" r:id="rId19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GRAPHICS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548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1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Camera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Visualization of 3D → 2D Coordinate Transformations and Projection Using Matrix Operations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59028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400" b="0">
                <a:solidFill>
                  <a:srgbClr val="EEF3FA"/>
                </a:solidFill>
                <a:latin typeface="Calibri"/>
              </a:rPr>
              <a:t>Mathematical Foundation for AI &amp; Data Science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M (PES2UG25CS250) · Sai Arjun (PES2UG25CS244)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Jayanth K.P (PES2UG25CS231) · Jeevan N (PES2UG25CS232)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University, Bengaluru · October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7680960" y="1371600"/>
            <a:ext cx="685800" cy="493776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366760" y="1371600"/>
            <a:ext cx="685800" cy="493776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680960" y="1865376"/>
            <a:ext cx="1371600" cy="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680960" y="1865376"/>
            <a:ext cx="0" cy="1357884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052560" y="1865376"/>
            <a:ext cx="0" cy="1357884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0" y="3223260"/>
            <a:ext cx="685800" cy="61722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8366760" y="3223260"/>
            <a:ext cx="685800" cy="61722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66760" y="1371600"/>
            <a:ext cx="0" cy="246888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6809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2423160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FFD447"/>
          </a:solidFill>
          <a:ln w="6350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4183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0" y="1554480"/>
            <a:ext cx="0" cy="2194560"/>
          </a:xfrm>
          <a:prstGeom prst="line">
            <a:avLst/>
          </a:prstGeom>
          <a:noFill/>
          <a:ln w="25400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241280" y="1554480"/>
            <a:ext cx="1188720" cy="1097280"/>
          </a:xfrm>
          <a:prstGeom prst="line">
            <a:avLst/>
          </a:prstGeom>
          <a:noFill/>
          <a:ln w="15875">
            <a:solidFill>
              <a:srgbClr val="A9B4C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241280" y="2651760"/>
            <a:ext cx="1188720" cy="1097280"/>
          </a:xfrm>
          <a:prstGeom prst="line">
            <a:avLst/>
          </a:prstGeom>
          <a:noFill/>
          <a:ln w="15875">
            <a:solidFill>
              <a:srgbClr val="A9B4C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241280" y="2651760"/>
            <a:ext cx="1188720" cy="0"/>
          </a:xfrm>
          <a:prstGeom prst="line">
            <a:avLst/>
          </a:prstGeom>
          <a:noFill/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97280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2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World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63240" y="2788920"/>
            <a:ext cx="253898" cy="0"/>
          </a:xfrm>
          <a:prstGeom prst="line">
            <a:avLst/>
          </a:prstGeom>
          <a:noFill/>
          <a:ln w="25400">
            <a:solidFill>
              <a:srgbClr val="A9B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54298" y="2286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454298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68898" y="2788920"/>
            <a:ext cx="253898" cy="0"/>
          </a:xfrm>
          <a:prstGeom prst="line">
            <a:avLst/>
          </a:prstGeom>
          <a:noFill/>
          <a:ln w="25400">
            <a:solidFill>
              <a:srgbClr val="A9B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59957" y="2286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359957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74557" y="2788920"/>
            <a:ext cx="253898" cy="0"/>
          </a:xfrm>
          <a:prstGeom prst="line">
            <a:avLst/>
          </a:prstGeom>
          <a:noFill/>
          <a:ln w="25400">
            <a:solidFill>
              <a:srgbClr val="A9B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265615" y="22860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65615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Image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Object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54298" y="1920240"/>
            <a:ext cx="5283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Transformations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65615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Image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3D point be transformed into its corresponding 2D image point?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bridge this gap?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stores objects in 3D space — but a screen is a 2D surface.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3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Coordinate System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a point in 3D space and extending it to homogeneous coordinates.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937760" cy="3886200"/>
          </a:xfrm>
          <a:prstGeom prst="roundRect">
            <a:avLst>
              <a:gd name="adj" fmla="val 2824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Coordinate System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is represented by three coordinates: x, y, and 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3840480"/>
            <a:ext cx="1828800" cy="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103120" y="3840480"/>
            <a:ext cx="0" cy="1280160"/>
          </a:xfrm>
          <a:prstGeom prst="line">
            <a:avLst/>
          </a:prstGeom>
          <a:noFill/>
          <a:ln w="25400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H="1" flipV="1">
            <a:off x="1371600" y="3108960"/>
            <a:ext cx="731520" cy="731520"/>
          </a:xfrm>
          <a:prstGeom prst="line">
            <a:avLst/>
          </a:prstGeom>
          <a:noFill/>
          <a:ln w="2540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03120" y="3840480"/>
            <a:ext cx="1097280" cy="1280160"/>
          </a:xfrm>
          <a:prstGeom prst="line">
            <a:avLst/>
          </a:prstGeom>
          <a:noFill/>
          <a:ln w="15875">
            <a:solidFill>
              <a:srgbClr val="A9B4C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0" y="3840480"/>
            <a:ext cx="0" cy="1280160"/>
          </a:xfrm>
          <a:prstGeom prst="line">
            <a:avLst/>
          </a:prstGeom>
          <a:noFill/>
          <a:ln w="12700">
            <a:solidFill>
              <a:srgbClr val="A9B4C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03120" y="5120640"/>
            <a:ext cx="1097280" cy="0"/>
          </a:xfrm>
          <a:prstGeom prst="line">
            <a:avLst/>
          </a:prstGeom>
          <a:noFill/>
          <a:ln w="12700">
            <a:solidFill>
              <a:srgbClr val="A9B4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0233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99816" y="5020056"/>
            <a:ext cx="201168" cy="201168"/>
          </a:xfrm>
          <a:prstGeom prst="ellipse">
            <a:avLst/>
          </a:prstGeom>
          <a:solidFill>
            <a:srgbClr val="FFD447"/>
          </a:solidFill>
          <a:ln w="6350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3429000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(x, y, z)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1783080"/>
            <a:ext cx="5790895" cy="548640"/>
          </a:xfrm>
          <a:prstGeom prst="roundRect">
            <a:avLst>
              <a:gd name="adj" fmla="val 20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852160" y="178308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 →  homogeneous form  →  unified matrix transformations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25603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0807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coordinates: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3246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6560" y="3072384"/>
            <a:ext cx="27432" cy="1170432"/>
          </a:xfrm>
          <a:prstGeom prst="rect">
            <a:avLst/>
          </a:prstGeom>
          <a:solidFill>
            <a:srgbClr val="49C8FF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019288" y="3072384"/>
            <a:ext cx="27432" cy="1170432"/>
          </a:xfrm>
          <a:prstGeom prst="rect">
            <a:avLst/>
          </a:prstGeom>
          <a:solidFill>
            <a:srgbClr val="49C8FF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808415" y="25603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018727" y="2670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4th coordinate?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18727" y="3063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cannot be expressed as pure matrix multiplication in 3D. Adding w = 1 allows all affine transformations — including translation — to be unified as matrix products.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4617720"/>
            <a:ext cx="5790895" cy="1051560"/>
          </a:xfrm>
          <a:prstGeom prst="roundRect">
            <a:avLst>
              <a:gd name="adj" fmla="val 10435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0807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representation: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4937760"/>
            <a:ext cx="5790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(x, y, z)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4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Points with Matrices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multiplication applies geometric transformations to 3D points in homogeneous coordinates.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 = M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    Multiple transforms combine via matrix multiplication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64328" cy="2880360"/>
          </a:xfrm>
          <a:prstGeom prst="roundRect">
            <a:avLst>
              <a:gd name="adj" fmla="val 381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11880"/>
            <a:ext cx="73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737360" y="3621024"/>
            <a:ext cx="27432" cy="1719072"/>
          </a:xfrm>
          <a:prstGeom prst="rect">
            <a:avLst/>
          </a:prstGeom>
          <a:solidFill>
            <a:srgbClr val="49C8FF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550408" y="3621024"/>
            <a:ext cx="27432" cy="1719072"/>
          </a:xfrm>
          <a:prstGeom prst="rect">
            <a:avLst/>
          </a:prstGeom>
          <a:solidFill>
            <a:srgbClr val="49C8FF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278728" y="2788920"/>
            <a:ext cx="5364328" cy="2880360"/>
          </a:xfrm>
          <a:prstGeom prst="roundRect">
            <a:avLst>
              <a:gd name="adj" fmla="val 3810"/>
            </a:avLst>
          </a:prstGeom>
          <a:solidFill>
            <a:srgbClr val="17233D"/>
          </a:solidFill>
          <a:ln w="15875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278728" y="2926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644488" y="3611880"/>
            <a:ext cx="73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558888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473288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387688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302088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558888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73288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387688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0302088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558888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473288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387688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algn="ctr" indent="0" marL="0">
              <a:buNone/>
            </a:pPr>
            <a:r>
              <a:rPr lang="en-US" sz="1800" baseline="-400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302088" y="4480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7558888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8473288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9387688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10302088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467448" y="3621024"/>
            <a:ext cx="27432" cy="1719072"/>
          </a:xfrm>
          <a:prstGeom prst="rect">
            <a:avLst/>
          </a:prstGeom>
          <a:solidFill>
            <a:srgbClr val="8FE388"/>
          </a:solidFill>
          <a:ln w="12700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1280496" y="3621024"/>
            <a:ext cx="27432" cy="1719072"/>
          </a:xfrm>
          <a:prstGeom prst="rect">
            <a:avLst/>
          </a:prstGeom>
          <a:solidFill>
            <a:srgbClr val="8FE388"/>
          </a:solidFill>
          <a:ln w="12700">
            <a:solidFill>
              <a:srgbClr val="8FE388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5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Transformation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transformation converts world coordinates into camera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Coordinates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94760" y="2971800"/>
            <a:ext cx="609448" cy="0"/>
          </a:xfrm>
          <a:prstGeom prst="line">
            <a:avLst/>
          </a:prstGeom>
          <a:noFill/>
          <a:ln w="25400">
            <a:solidFill>
              <a:srgbClr val="A9B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41368" y="24688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41368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Transformation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87488" y="2971800"/>
            <a:ext cx="609448" cy="0"/>
          </a:xfrm>
          <a:prstGeom prst="line">
            <a:avLst/>
          </a:prstGeom>
          <a:noFill/>
          <a:ln w="25400">
            <a:solidFill>
              <a:srgbClr val="A9B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34095" y="24688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7233D"/>
          </a:solidFill>
          <a:ln w="15875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534095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Coordinates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Space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1368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M_view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34095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Space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P_camera = M_view · P_world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6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Camera to Screen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64328" cy="4023360"/>
          </a:xfrm>
          <a:prstGeom prst="roundRect">
            <a:avLst>
              <a:gd name="adj" fmla="val 3409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by z creates depth-dependent scaling.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farther from the camera appear smaller.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4815688" cy="731520"/>
          </a:xfrm>
          <a:prstGeom prst="roundRect">
            <a:avLst>
              <a:gd name="adj" fmla="val 15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f · (x/z)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4815688" cy="731520"/>
          </a:xfrm>
          <a:prstGeom prst="roundRect">
            <a:avLst>
              <a:gd name="adj" fmla="val 15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457200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f · (y/z)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78728" y="1783080"/>
            <a:ext cx="5364328" cy="4023360"/>
          </a:xfrm>
          <a:prstGeom prst="roundRect">
            <a:avLst>
              <a:gd name="adj" fmla="val 3409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53048" y="2011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5603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engineering and architectural views.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9260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does not change the apparent size.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53048" y="3611880"/>
            <a:ext cx="4815688" cy="731520"/>
          </a:xfrm>
          <a:prstGeom prst="roundRect">
            <a:avLst>
              <a:gd name="adj" fmla="val 15000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53048" y="361188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53048" y="4572000"/>
            <a:ext cx="4815688" cy="731520"/>
          </a:xfrm>
          <a:prstGeom prst="roundRect">
            <a:avLst>
              <a:gd name="adj" fmla="val 15000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53048" y="457200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y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7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Mathematical Pipeline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783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P₃D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7830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coordinate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40487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Transform M_world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4048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Rotate, Translate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8FE3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302666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Transform M_view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02666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coordinate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364845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Coordinates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648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from camera perspective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70248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42702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P_projection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2702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or orthographic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" y="4892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Coordinates P₂D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892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pixel mapping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1783080"/>
            <a:ext cx="4876495" cy="3639312"/>
          </a:xfrm>
          <a:prstGeom prst="roundRect">
            <a:avLst>
              <a:gd name="adj" fmla="val 3769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132320" y="196596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Chain: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46888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P_projection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03580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M_view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3602736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E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M_world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16966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P₃D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73659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P₂D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P₂D = P_projection · M_view · M_world · P₃D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8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Result: 3D → 2D Projection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complete pipeline to a 3D scene yields 2D screen coordinates: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screen coordinates map each vertex of the 3D pyramid to its position on the 2D display surface.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Pyramid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685800" y="2377440"/>
            <a:ext cx="685800" cy="493776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71600" y="2377440"/>
            <a:ext cx="685800" cy="493776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2871216"/>
            <a:ext cx="1371600" cy="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85800" y="2871216"/>
            <a:ext cx="0" cy="1357884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57400" y="2871216"/>
            <a:ext cx="0" cy="1357884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4229100"/>
            <a:ext cx="685800" cy="61722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H="1">
            <a:off x="1371600" y="4229100"/>
            <a:ext cx="685800" cy="61722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71600" y="2377440"/>
            <a:ext cx="0" cy="246888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0" y="3611880"/>
            <a:ext cx="1828800" cy="0"/>
          </a:xfrm>
          <a:prstGeom prst="line">
            <a:avLst/>
          </a:prstGeom>
          <a:noFill/>
          <a:ln w="38100">
            <a:solidFill>
              <a:srgbClr val="FFD44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7432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Projection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560320"/>
            <a:ext cx="1371600" cy="36576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6217920" y="2926080"/>
            <a:ext cx="91440" cy="128016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5074920" y="4206240"/>
            <a:ext cx="1143000" cy="54864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 flipV="1">
            <a:off x="4937760" y="2560320"/>
            <a:ext cx="137160" cy="2194560"/>
          </a:xfrm>
          <a:prstGeom prst="line">
            <a:avLst/>
          </a:prstGeom>
          <a:noFill/>
          <a:ln w="254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223760" y="1783080"/>
            <a:ext cx="4419295" cy="3886200"/>
          </a:xfrm>
          <a:prstGeom prst="roundRect">
            <a:avLst>
              <a:gd name="adj" fmla="val 3529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223760" y="192024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Coordinates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423160"/>
            <a:ext cx="2209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433408" y="2423160"/>
            <a:ext cx="2209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2834640"/>
            <a:ext cx="3687775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223760" y="283464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-15.260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33408" y="283464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6.134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89520" y="3383280"/>
            <a:ext cx="3687775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223760" y="338328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-6.163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433408" y="338328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-9.393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89520" y="3931920"/>
            <a:ext cx="3687775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223760" y="393192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-16.790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433408" y="393192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-13.337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89520" y="4480560"/>
            <a:ext cx="3687775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7223760" y="448056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-19.568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433408" y="448056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-7.380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0" y="5029200"/>
            <a:ext cx="3687775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7223760" y="502920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-10.157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433408" y="5029200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-4.485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image(20261008-17205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43" y="1078992"/>
            <a:ext cx="9957913" cy="55229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468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9C8FF"/>
                </a:solidFill>
                <a:latin typeface="Calibri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25603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2064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EF3FA"/>
                </a:solidFill>
                <a:latin typeface="Calibri"/>
              </a:rPr>
              <a:t>Interactive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630936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4C8"/>
                </a:solidFill>
                <a:latin typeface="Calibri"/>
              </a:rPr>
              <a:t>Object • Camera • Projection • Matrices • Vertex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17233D"/>
          </a:solidFill>
          <a:ln w="1270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71455" y="365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A9B4C8"/>
                </a:solidFill>
                <a:latin typeface="Calibri"/>
              </a:rPr>
              <a:t>10 / 10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Point  ×  M_world  ×  M_view  ×  P_proj  =  Screen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364328" cy="3063240"/>
          </a:xfrm>
          <a:prstGeom prst="roundRect">
            <a:avLst>
              <a:gd name="adj" fmla="val 4478"/>
            </a:avLst>
          </a:prstGeom>
          <a:solidFill>
            <a:srgbClr val="17233D"/>
          </a:solidFill>
          <a:ln w="15875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Connected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188720" y="324612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Frame Algebra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88720" y="352044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188720" y="379476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88720" y="40690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Transformations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43484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188720" y="4343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Coordinates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70916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188720" y="461772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Rotations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98348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188720" y="489204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257800"/>
            <a:ext cx="91440" cy="91440"/>
          </a:xfrm>
          <a:prstGeom prst="ellipse">
            <a:avLst/>
          </a:prstGeom>
          <a:solidFill>
            <a:srgbClr val="49C8FF"/>
          </a:solidFill>
          <a:ln w="6350">
            <a:solidFill>
              <a:srgbClr val="49C8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&amp; Direction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8728" y="2560320"/>
            <a:ext cx="5364328" cy="3063240"/>
          </a:xfrm>
          <a:prstGeom prst="roundRect">
            <a:avLst>
              <a:gd name="adj" fmla="val 4478"/>
            </a:avLst>
          </a:prstGeom>
          <a:solidFill>
            <a:srgbClr val="17233D"/>
          </a:solidFill>
          <a:ln w="15875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598768" y="2697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5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44488" y="333756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918808" y="324612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OpenGL-based rendering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44488" y="361188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918808" y="352044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projection models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44488" y="388620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918808" y="379476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&amp; motion paths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44488" y="416052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918808" y="40690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3D objects &amp; scenes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44488" y="443484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918808" y="43434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3D visualization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44488" y="4709160"/>
            <a:ext cx="91440" cy="91440"/>
          </a:xfrm>
          <a:prstGeom prst="ellipse">
            <a:avLst/>
          </a:prstGeom>
          <a:solidFill>
            <a:srgbClr val="D58BFF"/>
          </a:solidFill>
          <a:ln w="6350">
            <a:solidFill>
              <a:srgbClr val="D58B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6918808" y="461772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camera controls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21818"/>
            </a:avLst>
          </a:prstGeom>
          <a:solidFill>
            <a:srgbClr val="17233D"/>
          </a:solidFill>
          <a:ln w="15875">
            <a:solidFill>
              <a:srgbClr val="FFD447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Geometry + Linear Algebra → 2D Visualization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Visualization of 3D → 2D Projection</dc:title>
  <dc:subject>PptxGenJS Presentation</dc:subject>
  <dc:creator>PptxGenJS</dc:creator>
  <cp:lastModifiedBy>PptxGenJS</cp:lastModifiedBy>
  <cp:revision>1</cp:revision>
  <dcterms:created xsi:type="dcterms:W3CDTF">2026-10-04T16:48:07Z</dcterms:created>
  <dcterms:modified xsi:type="dcterms:W3CDTF">2026-10-04T16:48:07Z</dcterms:modified>
</cp:coreProperties>
</file>